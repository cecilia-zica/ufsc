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4" r:id="rId3"/>
    <p:sldId id="278" r:id="rId4"/>
    <p:sldId id="281" r:id="rId5"/>
    <p:sldId id="284" r:id="rId6"/>
    <p:sldId id="282" r:id="rId7"/>
    <p:sldId id="283" r:id="rId8"/>
    <p:sldId id="285" r:id="rId9"/>
    <p:sldId id="286" r:id="rId10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31D851-A6B2-4AF3-B4DE-347B5618082C}" v="3" dt="2025-11-05T22:20:57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 autoAdjust="0"/>
    <p:restoredTop sz="94595" autoAdjust="0"/>
  </p:normalViewPr>
  <p:slideViewPr>
    <p:cSldViewPr>
      <p:cViewPr varScale="1">
        <p:scale>
          <a:sx n="71" d="100"/>
          <a:sy n="71" d="100"/>
        </p:scale>
        <p:origin x="171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C44BD5C6-C92A-4990-911F-28F9A2FB6307}"/>
    <pc:docChg chg="undo custSel addSld delSld modSld sldOrd">
      <pc:chgData name="Adriano Borgatto" userId="e50a874dfa6d3f1a" providerId="LiveId" clId="{C44BD5C6-C92A-4990-911F-28F9A2FB6307}" dt="2025-11-11T16:53:27.148" v="303" actId="1037"/>
      <pc:docMkLst>
        <pc:docMk/>
      </pc:docMkLst>
      <pc:sldChg chg="delSp modSp mod">
        <pc:chgData name="Adriano Borgatto" userId="e50a874dfa6d3f1a" providerId="LiveId" clId="{C44BD5C6-C92A-4990-911F-28F9A2FB6307}" dt="2025-11-11T14:32:56.459" v="258" actId="20577"/>
        <pc:sldMkLst>
          <pc:docMk/>
          <pc:sldMk cId="731584777" sldId="278"/>
        </pc:sldMkLst>
        <pc:spChg chg="mod">
          <ac:chgData name="Adriano Borgatto" userId="e50a874dfa6d3f1a" providerId="LiveId" clId="{C44BD5C6-C92A-4990-911F-28F9A2FB6307}" dt="2025-11-05T22:19:50.699" v="87" actId="255"/>
          <ac:spMkLst>
            <pc:docMk/>
            <pc:sldMk cId="731584777" sldId="278"/>
            <ac:spMk id="4" creationId="{7E9C2CCD-65EF-327E-6032-CBDDEAF88F58}"/>
          </ac:spMkLst>
        </pc:spChg>
        <pc:spChg chg="mod">
          <ac:chgData name="Adriano Borgatto" userId="e50a874dfa6d3f1a" providerId="LiveId" clId="{C44BD5C6-C92A-4990-911F-28F9A2FB6307}" dt="2025-11-05T22:25:03.207" v="210" actId="6549"/>
          <ac:spMkLst>
            <pc:docMk/>
            <pc:sldMk cId="731584777" sldId="278"/>
            <ac:spMk id="6" creationId="{853F5CB2-00CF-FE58-74D7-BB5A9A44038A}"/>
          </ac:spMkLst>
        </pc:spChg>
        <pc:spChg chg="mod">
          <ac:chgData name="Adriano Borgatto" userId="e50a874dfa6d3f1a" providerId="LiveId" clId="{C44BD5C6-C92A-4990-911F-28F9A2FB6307}" dt="2025-11-11T14:32:56.459" v="258" actId="20577"/>
          <ac:spMkLst>
            <pc:docMk/>
            <pc:sldMk cId="731584777" sldId="278"/>
            <ac:spMk id="7" creationId="{00000000-0000-0000-0000-000000000000}"/>
          </ac:spMkLst>
        </pc:spChg>
      </pc:sldChg>
      <pc:sldChg chg="addSp delSp modSp mod">
        <pc:chgData name="Adriano Borgatto" userId="e50a874dfa6d3f1a" providerId="LiveId" clId="{C44BD5C6-C92A-4990-911F-28F9A2FB6307}" dt="2025-11-05T22:24:09.294" v="175" actId="20577"/>
        <pc:sldMkLst>
          <pc:docMk/>
          <pc:sldMk cId="264929819" sldId="281"/>
        </pc:sldMkLst>
        <pc:spChg chg="mod">
          <ac:chgData name="Adriano Borgatto" userId="e50a874dfa6d3f1a" providerId="LiveId" clId="{C44BD5C6-C92A-4990-911F-28F9A2FB6307}" dt="2025-11-05T22:24:09.294" v="175" actId="20577"/>
          <ac:spMkLst>
            <pc:docMk/>
            <pc:sldMk cId="264929819" sldId="281"/>
            <ac:spMk id="7" creationId="{9995D6C3-878C-E24C-4BB4-6798927D0730}"/>
          </ac:spMkLst>
        </pc:spChg>
        <pc:spChg chg="mod">
          <ac:chgData name="Adriano Borgatto" userId="e50a874dfa6d3f1a" providerId="LiveId" clId="{C44BD5C6-C92A-4990-911F-28F9A2FB6307}" dt="2025-11-05T22:21:49.019" v="137" actId="1038"/>
          <ac:spMkLst>
            <pc:docMk/>
            <pc:sldMk cId="264929819" sldId="281"/>
            <ac:spMk id="11" creationId="{C978D2E1-E77F-DA09-B1E8-959A7D2DC6E5}"/>
          </ac:spMkLst>
        </pc:spChg>
        <pc:picChg chg="add mod modCrop">
          <ac:chgData name="Adriano Borgatto" userId="e50a874dfa6d3f1a" providerId="LiveId" clId="{C44BD5C6-C92A-4990-911F-28F9A2FB6307}" dt="2025-11-05T22:21:34.957" v="129" actId="1037"/>
          <ac:picMkLst>
            <pc:docMk/>
            <pc:sldMk cId="264929819" sldId="281"/>
            <ac:picMk id="2" creationId="{5C219C82-EE1D-5776-669E-A6994D682E87}"/>
          </ac:picMkLst>
        </pc:picChg>
      </pc:sldChg>
      <pc:sldChg chg="modSp mod">
        <pc:chgData name="Adriano Borgatto" userId="e50a874dfa6d3f1a" providerId="LiveId" clId="{C44BD5C6-C92A-4990-911F-28F9A2FB6307}" dt="2025-11-05T22:25:32.803" v="213" actId="948"/>
        <pc:sldMkLst>
          <pc:docMk/>
          <pc:sldMk cId="2648939099" sldId="282"/>
        </pc:sldMkLst>
        <pc:spChg chg="mod">
          <ac:chgData name="Adriano Borgatto" userId="e50a874dfa6d3f1a" providerId="LiveId" clId="{C44BD5C6-C92A-4990-911F-28F9A2FB6307}" dt="2025-11-05T22:24:34.287" v="208" actId="20577"/>
          <ac:spMkLst>
            <pc:docMk/>
            <pc:sldMk cId="2648939099" sldId="282"/>
            <ac:spMk id="7" creationId="{8F72DDC2-6E6F-7C84-10C6-41BF3A4928B7}"/>
          </ac:spMkLst>
        </pc:spChg>
        <pc:spChg chg="mod">
          <ac:chgData name="Adriano Borgatto" userId="e50a874dfa6d3f1a" providerId="LiveId" clId="{C44BD5C6-C92A-4990-911F-28F9A2FB6307}" dt="2025-11-05T22:25:32.803" v="213" actId="948"/>
          <ac:spMkLst>
            <pc:docMk/>
            <pc:sldMk cId="2648939099" sldId="282"/>
            <ac:spMk id="11" creationId="{7B579CDD-2D24-4F4B-24EA-7A92203570AB}"/>
          </ac:spMkLst>
        </pc:spChg>
      </pc:sldChg>
      <pc:sldChg chg="addSp delSp modSp mod">
        <pc:chgData name="Adriano Borgatto" userId="e50a874dfa6d3f1a" providerId="LiveId" clId="{C44BD5C6-C92A-4990-911F-28F9A2FB6307}" dt="2025-11-05T22:28:44.136" v="256" actId="20577"/>
        <pc:sldMkLst>
          <pc:docMk/>
          <pc:sldMk cId="2567524115" sldId="283"/>
        </pc:sldMkLst>
        <pc:spChg chg="add mod">
          <ac:chgData name="Adriano Borgatto" userId="e50a874dfa6d3f1a" providerId="LiveId" clId="{C44BD5C6-C92A-4990-911F-28F9A2FB6307}" dt="2025-11-05T22:27:00.518" v="239" actId="20577"/>
          <ac:spMkLst>
            <pc:docMk/>
            <pc:sldMk cId="2567524115" sldId="283"/>
            <ac:spMk id="4" creationId="{213C9207-6906-A550-1EA2-7D64CA977C15}"/>
          </ac:spMkLst>
        </pc:spChg>
        <pc:spChg chg="mod">
          <ac:chgData name="Adriano Borgatto" userId="e50a874dfa6d3f1a" providerId="LiveId" clId="{C44BD5C6-C92A-4990-911F-28F9A2FB6307}" dt="2025-11-05T22:28:44.136" v="256" actId="20577"/>
          <ac:spMkLst>
            <pc:docMk/>
            <pc:sldMk cId="2567524115" sldId="283"/>
            <ac:spMk id="7" creationId="{4A3B3E27-5A7C-00F1-6FBA-126D600C51DE}"/>
          </ac:spMkLst>
        </pc:spChg>
        <pc:spChg chg="add mod">
          <ac:chgData name="Adriano Borgatto" userId="e50a874dfa6d3f1a" providerId="LiveId" clId="{C44BD5C6-C92A-4990-911F-28F9A2FB6307}" dt="2025-11-05T22:28:16.465" v="254" actId="14100"/>
          <ac:spMkLst>
            <pc:docMk/>
            <pc:sldMk cId="2567524115" sldId="283"/>
            <ac:spMk id="9" creationId="{F5596B93-5C76-DD11-1182-6F8E8DAF6E6D}"/>
          </ac:spMkLst>
        </pc:spChg>
        <pc:picChg chg="add mod modCrop">
          <ac:chgData name="Adriano Borgatto" userId="e50a874dfa6d3f1a" providerId="LiveId" clId="{C44BD5C6-C92A-4990-911F-28F9A2FB6307}" dt="2025-11-05T22:27:49.808" v="249" actId="1035"/>
          <ac:picMkLst>
            <pc:docMk/>
            <pc:sldMk cId="2567524115" sldId="283"/>
            <ac:picMk id="6" creationId="{7492B99F-7903-4BFC-410D-31CC5FAD8C5E}"/>
          </ac:picMkLst>
        </pc:picChg>
      </pc:sldChg>
      <pc:sldChg chg="modSp mod ord">
        <pc:chgData name="Adriano Borgatto" userId="e50a874dfa6d3f1a" providerId="LiveId" clId="{C44BD5C6-C92A-4990-911F-28F9A2FB6307}" dt="2025-11-05T22:25:23.188" v="212" actId="948"/>
        <pc:sldMkLst>
          <pc:docMk/>
          <pc:sldMk cId="1934774086" sldId="284"/>
        </pc:sldMkLst>
        <pc:spChg chg="mod">
          <ac:chgData name="Adriano Borgatto" userId="e50a874dfa6d3f1a" providerId="LiveId" clId="{C44BD5C6-C92A-4990-911F-28F9A2FB6307}" dt="2025-11-05T22:25:23.188" v="212" actId="948"/>
          <ac:spMkLst>
            <pc:docMk/>
            <pc:sldMk cId="1934774086" sldId="284"/>
            <ac:spMk id="4" creationId="{8BC3637A-052C-2119-74D2-1E4FCAD49D5B}"/>
          </ac:spMkLst>
        </pc:spChg>
        <pc:spChg chg="mod">
          <ac:chgData name="Adriano Borgatto" userId="e50a874dfa6d3f1a" providerId="LiveId" clId="{C44BD5C6-C92A-4990-911F-28F9A2FB6307}" dt="2025-11-05T22:24:23.897" v="195" actId="20577"/>
          <ac:spMkLst>
            <pc:docMk/>
            <pc:sldMk cId="1934774086" sldId="284"/>
            <ac:spMk id="7" creationId="{632AA6AC-6BF2-8913-6C5E-AD72717973D2}"/>
          </ac:spMkLst>
        </pc:spChg>
      </pc:sldChg>
      <pc:sldChg chg="modSp mod">
        <pc:chgData name="Adriano Borgatto" userId="e50a874dfa6d3f1a" providerId="LiveId" clId="{C44BD5C6-C92A-4990-911F-28F9A2FB6307}" dt="2025-11-05T22:28:38.351" v="255" actId="207"/>
        <pc:sldMkLst>
          <pc:docMk/>
          <pc:sldMk cId="1421011328" sldId="285"/>
        </pc:sldMkLst>
        <pc:spChg chg="mod">
          <ac:chgData name="Adriano Borgatto" userId="e50a874dfa6d3f1a" providerId="LiveId" clId="{C44BD5C6-C92A-4990-911F-28F9A2FB6307}" dt="2025-11-05T21:51:44.033" v="19" actId="20577"/>
          <ac:spMkLst>
            <pc:docMk/>
            <pc:sldMk cId="1421011328" sldId="285"/>
            <ac:spMk id="4" creationId="{73C9B173-782D-450A-AC4F-0C2F1340D068}"/>
          </ac:spMkLst>
        </pc:spChg>
        <pc:spChg chg="mod">
          <ac:chgData name="Adriano Borgatto" userId="e50a874dfa6d3f1a" providerId="LiveId" clId="{C44BD5C6-C92A-4990-911F-28F9A2FB6307}" dt="2025-11-05T22:28:38.351" v="255" actId="207"/>
          <ac:spMkLst>
            <pc:docMk/>
            <pc:sldMk cId="1421011328" sldId="285"/>
            <ac:spMk id="6" creationId="{B9064755-D483-0025-B1DA-8A94BBD8F42D}"/>
          </ac:spMkLst>
        </pc:spChg>
        <pc:picChg chg="mod">
          <ac:chgData name="Adriano Borgatto" userId="e50a874dfa6d3f1a" providerId="LiveId" clId="{C44BD5C6-C92A-4990-911F-28F9A2FB6307}" dt="2025-11-05T21:51:52.454" v="22" actId="1035"/>
          <ac:picMkLst>
            <pc:docMk/>
            <pc:sldMk cId="1421011328" sldId="285"/>
            <ac:picMk id="3" creationId="{712D727F-5279-5EB1-07F7-3BD6BD6046A8}"/>
          </ac:picMkLst>
        </pc:picChg>
      </pc:sldChg>
      <pc:sldChg chg="addSp delSp modSp add mod">
        <pc:chgData name="Adriano Borgatto" userId="e50a874dfa6d3f1a" providerId="LiveId" clId="{C44BD5C6-C92A-4990-911F-28F9A2FB6307}" dt="2025-11-11T16:53:27.148" v="303" actId="1037"/>
        <pc:sldMkLst>
          <pc:docMk/>
          <pc:sldMk cId="2698474262" sldId="286"/>
        </pc:sldMkLst>
        <pc:spChg chg="del">
          <ac:chgData name="Adriano Borgatto" userId="e50a874dfa6d3f1a" providerId="LiveId" clId="{C44BD5C6-C92A-4990-911F-28F9A2FB6307}" dt="2025-11-11T16:50:48.283" v="260" actId="478"/>
          <ac:spMkLst>
            <pc:docMk/>
            <pc:sldMk cId="2698474262" sldId="286"/>
            <ac:spMk id="4" creationId="{5B373567-C08E-B03B-0698-C7F4EFA3A8CE}"/>
          </ac:spMkLst>
        </pc:spChg>
        <pc:spChg chg="del">
          <ac:chgData name="Adriano Borgatto" userId="e50a874dfa6d3f1a" providerId="LiveId" clId="{C44BD5C6-C92A-4990-911F-28F9A2FB6307}" dt="2025-11-11T16:50:48.283" v="260" actId="478"/>
          <ac:spMkLst>
            <pc:docMk/>
            <pc:sldMk cId="2698474262" sldId="286"/>
            <ac:spMk id="6" creationId="{55B4B264-2327-CC05-7CBC-C3F66ACB719E}"/>
          </ac:spMkLst>
        </pc:spChg>
        <pc:spChg chg="mod">
          <ac:chgData name="Adriano Borgatto" userId="e50a874dfa6d3f1a" providerId="LiveId" clId="{C44BD5C6-C92A-4990-911F-28F9A2FB6307}" dt="2025-11-11T16:50:57.199" v="276" actId="20577"/>
          <ac:spMkLst>
            <pc:docMk/>
            <pc:sldMk cId="2698474262" sldId="286"/>
            <ac:spMk id="7" creationId="{DFA0EF32-17BF-A41D-D25B-81EFF6E5FAFC}"/>
          </ac:spMkLst>
        </pc:spChg>
        <pc:spChg chg="add mod">
          <ac:chgData name="Adriano Borgatto" userId="e50a874dfa6d3f1a" providerId="LiveId" clId="{C44BD5C6-C92A-4990-911F-28F9A2FB6307}" dt="2025-11-11T16:53:03.698" v="291" actId="14100"/>
          <ac:spMkLst>
            <pc:docMk/>
            <pc:sldMk cId="2698474262" sldId="286"/>
            <ac:spMk id="9" creationId="{739F7FD1-D431-FD7C-BE78-2037AD6825C4}"/>
          </ac:spMkLst>
        </pc:spChg>
        <pc:spChg chg="add mod">
          <ac:chgData name="Adriano Borgatto" userId="e50a874dfa6d3f1a" providerId="LiveId" clId="{C44BD5C6-C92A-4990-911F-28F9A2FB6307}" dt="2025-11-11T16:53:03.698" v="291" actId="14100"/>
          <ac:spMkLst>
            <pc:docMk/>
            <pc:sldMk cId="2698474262" sldId="286"/>
            <ac:spMk id="13" creationId="{E0490D9C-D24C-3671-49B2-E1067BD0F0DD}"/>
          </ac:spMkLst>
        </pc:spChg>
        <pc:picChg chg="del">
          <ac:chgData name="Adriano Borgatto" userId="e50a874dfa6d3f1a" providerId="LiveId" clId="{C44BD5C6-C92A-4990-911F-28F9A2FB6307}" dt="2025-11-11T16:50:48.283" v="260" actId="478"/>
          <ac:picMkLst>
            <pc:docMk/>
            <pc:sldMk cId="2698474262" sldId="286"/>
            <ac:picMk id="3" creationId="{FE57C07B-9E1E-F378-1793-7C02DE412C53}"/>
          </ac:picMkLst>
        </pc:picChg>
        <pc:picChg chg="add del mod">
          <ac:chgData name="Adriano Borgatto" userId="e50a874dfa6d3f1a" providerId="LiveId" clId="{C44BD5C6-C92A-4990-911F-28F9A2FB6307}" dt="2025-11-11T16:51:26.258" v="279" actId="478"/>
          <ac:picMkLst>
            <pc:docMk/>
            <pc:sldMk cId="2698474262" sldId="286"/>
            <ac:picMk id="5" creationId="{AA40A650-CEEF-22F2-EA39-B6BBC3A85EC3}"/>
          </ac:picMkLst>
        </pc:picChg>
        <pc:picChg chg="add mod">
          <ac:chgData name="Adriano Borgatto" userId="e50a874dfa6d3f1a" providerId="LiveId" clId="{C44BD5C6-C92A-4990-911F-28F9A2FB6307}" dt="2025-11-11T16:53:08.513" v="292" actId="14100"/>
          <ac:picMkLst>
            <pc:docMk/>
            <pc:sldMk cId="2698474262" sldId="286"/>
            <ac:picMk id="11" creationId="{97E734BD-1875-C25C-08A9-34E7A6AA4A72}"/>
          </ac:picMkLst>
        </pc:picChg>
        <pc:picChg chg="add mod">
          <ac:chgData name="Adriano Borgatto" userId="e50a874dfa6d3f1a" providerId="LiveId" clId="{C44BD5C6-C92A-4990-911F-28F9A2FB6307}" dt="2025-11-11T16:53:17.586" v="299" actId="1038"/>
          <ac:picMkLst>
            <pc:docMk/>
            <pc:sldMk cId="2698474262" sldId="286"/>
            <ac:picMk id="15" creationId="{C594188B-ED65-031C-A0FD-0163B5A0B6F9}"/>
          </ac:picMkLst>
        </pc:picChg>
        <pc:picChg chg="add mod">
          <ac:chgData name="Adriano Borgatto" userId="e50a874dfa6d3f1a" providerId="LiveId" clId="{C44BD5C6-C92A-4990-911F-28F9A2FB6307}" dt="2025-11-11T16:53:27.148" v="303" actId="1037"/>
          <ac:picMkLst>
            <pc:docMk/>
            <pc:sldMk cId="2698474262" sldId="286"/>
            <ac:picMk id="17" creationId="{EE8B6993-5801-F427-4F32-04F6A7C7BFD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 dirty="0">
                <a:solidFill>
                  <a:srgbClr val="FF0000"/>
                </a:solidFill>
              </a:rPr>
              <a:t>Aula 27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Séries Temporais: Modelos ARIMA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488561" y="142875"/>
            <a:ext cx="21082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5664AF-ABFE-480B-B954-2FE7AA5ACDA4}"/>
              </a:ext>
            </a:extLst>
          </p:cNvPr>
          <p:cNvSpPr txBox="1"/>
          <p:nvPr/>
        </p:nvSpPr>
        <p:spPr>
          <a:xfrm>
            <a:off x="251520" y="908720"/>
            <a:ext cx="8352928" cy="480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pt-BR" sz="2400" b="0" i="0" dirty="0">
                <a:solidFill>
                  <a:srgbClr val="333333"/>
                </a:solidFill>
                <a:effectLst/>
                <a:latin typeface="+mn-lt"/>
              </a:rPr>
              <a:t>Modelos ARIMA são outra classe de modelos populares em </a:t>
            </a:r>
            <a:r>
              <a:rPr lang="pt-BR" sz="2400" b="0" i="1" dirty="0" err="1">
                <a:solidFill>
                  <a:srgbClr val="333333"/>
                </a:solidFill>
                <a:effectLst/>
                <a:latin typeface="+mn-lt"/>
              </a:rPr>
              <a:t>forecasting</a:t>
            </a:r>
            <a:r>
              <a:rPr lang="pt-BR" sz="2400" b="0" i="0" dirty="0">
                <a:solidFill>
                  <a:srgbClr val="333333"/>
                </a:solidFill>
                <a:effectLst/>
                <a:latin typeface="+mn-lt"/>
              </a:rPr>
              <a:t>. A diferença entre modelos de suavização exponencial e os ARIMA é que os primeiros são baseados em descrever a tendência e a sazonalidade na série, enquanto os segundos se baseiam em autocorrelações presentes nos dados.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pt-BR" sz="2400" dirty="0">
                <a:solidFill>
                  <a:srgbClr val="333333"/>
                </a:solidFill>
                <a:latin typeface="+mn-lt"/>
              </a:rPr>
              <a:t>Vamos utilizar o exemplo: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pt-BR" i="1" dirty="0" err="1">
                <a:latin typeface="+mn-lt"/>
              </a:rPr>
              <a:t>library</a:t>
            </a:r>
            <a:r>
              <a:rPr lang="pt-BR" i="1" dirty="0">
                <a:latin typeface="+mn-lt"/>
              </a:rPr>
              <a:t>(</a:t>
            </a:r>
            <a:r>
              <a:rPr lang="pt-BR" i="1" dirty="0" err="1">
                <a:latin typeface="+mn-lt"/>
              </a:rPr>
              <a:t>forecast</a:t>
            </a:r>
            <a:r>
              <a:rPr lang="pt-BR" i="1" dirty="0">
                <a:latin typeface="+mn-lt"/>
              </a:rPr>
              <a:t>)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pt-BR" i="1" dirty="0">
                <a:latin typeface="+mn-lt"/>
              </a:rPr>
              <a:t>base = read.csv2("energia.csv")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pt-BR" i="1" dirty="0">
                <a:latin typeface="+mn-lt"/>
              </a:rPr>
              <a:t>energia = </a:t>
            </a:r>
            <a:r>
              <a:rPr lang="pt-BR" i="1" dirty="0" err="1">
                <a:latin typeface="+mn-lt"/>
              </a:rPr>
              <a:t>ts</a:t>
            </a:r>
            <a:r>
              <a:rPr lang="pt-BR" i="1" dirty="0">
                <a:latin typeface="+mn-lt"/>
              </a:rPr>
              <a:t>(</a:t>
            </a:r>
            <a:r>
              <a:rPr lang="pt-BR" i="1" dirty="0" err="1">
                <a:latin typeface="+mn-lt"/>
              </a:rPr>
              <a:t>base$consumo</a:t>
            </a:r>
            <a:r>
              <a:rPr lang="pt-BR" i="1" dirty="0">
                <a:latin typeface="+mn-lt"/>
              </a:rPr>
              <a:t>, </a:t>
            </a:r>
            <a:r>
              <a:rPr lang="pt-BR" i="1" dirty="0" err="1">
                <a:latin typeface="+mn-lt"/>
              </a:rPr>
              <a:t>frequency</a:t>
            </a:r>
            <a:r>
              <a:rPr lang="pt-BR" i="1" dirty="0">
                <a:latin typeface="+mn-lt"/>
              </a:rPr>
              <a:t>=12, start=c(1980,1))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pt-BR" i="1" dirty="0" err="1">
                <a:latin typeface="+mn-lt"/>
              </a:rPr>
              <a:t>autoplot</a:t>
            </a:r>
            <a:r>
              <a:rPr lang="pt-BR" i="1" dirty="0">
                <a:latin typeface="+mn-lt"/>
              </a:rPr>
              <a:t>(energia)</a:t>
            </a:r>
          </a:p>
        </p:txBody>
      </p:sp>
    </p:spTree>
    <p:extLst>
      <p:ext uri="{BB962C8B-B14F-4D97-AF65-F5344CB8AC3E}">
        <p14:creationId xmlns:p14="http://schemas.microsoft.com/office/powerpoint/2010/main" val="108063988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968393" y="142875"/>
            <a:ext cx="31486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Estacionariedade</a:t>
            </a:r>
            <a:endParaRPr lang="pt-BR" sz="2400" b="1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9C2CCD-65EF-327E-6032-CBDDEAF88F58}"/>
              </a:ext>
            </a:extLst>
          </p:cNvPr>
          <p:cNvSpPr txBox="1"/>
          <p:nvPr/>
        </p:nvSpPr>
        <p:spPr>
          <a:xfrm>
            <a:off x="467544" y="980728"/>
            <a:ext cx="7920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dirty="0" err="1">
                <a:solidFill>
                  <a:srgbClr val="333333"/>
                </a:solidFill>
                <a:effectLst/>
                <a:latin typeface="+mn-lt"/>
              </a:rPr>
              <a:t>Estacionariedade</a:t>
            </a:r>
            <a:r>
              <a:rPr lang="pt-BR" sz="2400" b="1" i="0" dirty="0">
                <a:solidFill>
                  <a:srgbClr val="333333"/>
                </a:solidFill>
                <a:effectLst/>
                <a:latin typeface="+mn-lt"/>
              </a:rPr>
              <a:t>, diferenciação e autocorrelação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3F5CB2-00CF-FE58-74D7-BB5A9A44038A}"/>
              </a:ext>
            </a:extLst>
          </p:cNvPr>
          <p:cNvSpPr txBox="1"/>
          <p:nvPr/>
        </p:nvSpPr>
        <p:spPr>
          <a:xfrm>
            <a:off x="467544" y="1556792"/>
            <a:ext cx="8064896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0" i="0" dirty="0">
                <a:solidFill>
                  <a:srgbClr val="333333"/>
                </a:solidFill>
                <a:effectLst/>
                <a:latin typeface="+mn-lt"/>
              </a:rPr>
              <a:t>Uma série temporal é dita </a:t>
            </a:r>
            <a:r>
              <a:rPr lang="pt-BR" sz="2400" b="1" i="0" dirty="0">
                <a:solidFill>
                  <a:srgbClr val="333333"/>
                </a:solidFill>
                <a:effectLst/>
                <a:latin typeface="+mn-lt"/>
              </a:rPr>
              <a:t>estacionária</a:t>
            </a:r>
            <a:r>
              <a:rPr lang="pt-BR" sz="2400" b="0" i="0" dirty="0">
                <a:solidFill>
                  <a:srgbClr val="333333"/>
                </a:solidFill>
                <a:effectLst/>
                <a:latin typeface="+mn-lt"/>
              </a:rPr>
              <a:t> se suas propriedades (média, variância, etc.) não dependem do tempo da observação. Portanto, séries que apresentam tendência ou sazonalidade não são estacionárias.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solidFill>
                  <a:schemeClr val="accent2"/>
                </a:solidFill>
              </a:rPr>
              <a:t>A série do exemplo da energia é estacionária?</a:t>
            </a:r>
            <a:endParaRPr lang="pt-BR" sz="2400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158477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91B3-26A0-EF9D-45E4-7423A485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9995D6C3-878C-E24C-4BB4-6798927D0730}"/>
              </a:ext>
            </a:extLst>
          </p:cNvPr>
          <p:cNvSpPr/>
          <p:nvPr/>
        </p:nvSpPr>
        <p:spPr>
          <a:xfrm>
            <a:off x="3204836" y="142875"/>
            <a:ext cx="2675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Decomposição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978D2E1-E77F-DA09-B1E8-959A7D2DC6E5}"/>
              </a:ext>
            </a:extLst>
          </p:cNvPr>
          <p:cNvSpPr txBox="1"/>
          <p:nvPr/>
        </p:nvSpPr>
        <p:spPr>
          <a:xfrm>
            <a:off x="491455" y="764704"/>
            <a:ext cx="72488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/>
              <a:t>Decomposição da série temporal de energia:</a:t>
            </a:r>
            <a:endParaRPr lang="pt-BR" i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C219C82-EE1D-5776-669E-A6994D682E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24"/>
          <a:stretch>
            <a:fillRect/>
          </a:stretch>
        </p:blipFill>
        <p:spPr>
          <a:xfrm>
            <a:off x="683568" y="1287220"/>
            <a:ext cx="7344816" cy="509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981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3A4E-0773-35DE-0F73-CD7C53FD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32AA6AC-6BF2-8913-6C5E-AD72717973D2}"/>
              </a:ext>
            </a:extLst>
          </p:cNvPr>
          <p:cNvSpPr/>
          <p:nvPr/>
        </p:nvSpPr>
        <p:spPr>
          <a:xfrm>
            <a:off x="3139912" y="142875"/>
            <a:ext cx="2805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Autocorrelação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C3637A-052C-2119-74D2-1E4FCAD49D5B}"/>
              </a:ext>
            </a:extLst>
          </p:cNvPr>
          <p:cNvSpPr txBox="1"/>
          <p:nvPr/>
        </p:nvSpPr>
        <p:spPr>
          <a:xfrm>
            <a:off x="330230" y="908720"/>
            <a:ext cx="8424936" cy="4519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Uma forma de analisar a </a:t>
            </a:r>
            <a:r>
              <a:rPr lang="pt-BR" sz="2200" b="0" i="0" dirty="0" err="1">
                <a:solidFill>
                  <a:srgbClr val="333333"/>
                </a:solidFill>
                <a:effectLst/>
                <a:latin typeface="+mn-lt"/>
              </a:rPr>
              <a:t>estacionariedade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 de uma série é pelo conceito de </a:t>
            </a:r>
            <a:r>
              <a:rPr lang="pt-BR" sz="2200" b="1" i="0" dirty="0">
                <a:solidFill>
                  <a:srgbClr val="333333"/>
                </a:solidFill>
                <a:effectLst/>
                <a:latin typeface="+mn-lt"/>
              </a:rPr>
              <a:t>autocorrelação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, que é uma medida do relacionamento linear entre os valores dentro de uma mesma série (como se fosse uma correlação interna). A autocorrelação depende do 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+mn-lt"/>
              </a:rPr>
              <a:t>lag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 que se deseja analisar. Por exemplo, </a:t>
            </a:r>
            <a:r>
              <a:rPr lang="pt-BR" sz="2200" b="0" i="1" dirty="0">
                <a:solidFill>
                  <a:srgbClr val="333333"/>
                </a:solidFill>
                <a:effectLst/>
                <a:latin typeface="+mn-lt"/>
              </a:rPr>
              <a:t>r</a:t>
            </a:r>
            <a:r>
              <a:rPr lang="pt-BR" sz="1400" b="0" i="1" dirty="0">
                <a:solidFill>
                  <a:srgbClr val="333333"/>
                </a:solidFill>
                <a:effectLst/>
                <a:latin typeface="+mn-lt"/>
              </a:rPr>
              <a:t>1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 se refere à relação entre </a:t>
            </a:r>
            <a:r>
              <a:rPr lang="pt-BR" sz="2200" b="0" i="1" dirty="0" err="1">
                <a:solidFill>
                  <a:srgbClr val="333333"/>
                </a:solidFill>
                <a:effectLst/>
                <a:latin typeface="+mn-lt"/>
              </a:rPr>
              <a:t>y</a:t>
            </a:r>
            <a:r>
              <a:rPr lang="pt-BR" sz="1400" b="0" i="1" dirty="0" err="1">
                <a:solidFill>
                  <a:srgbClr val="333333"/>
                </a:solidFill>
                <a:effectLst/>
                <a:latin typeface="+mn-lt"/>
              </a:rPr>
              <a:t>t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 e </a:t>
            </a:r>
            <a:r>
              <a:rPr lang="pt-BR" sz="2200" b="0" i="1" dirty="0">
                <a:solidFill>
                  <a:srgbClr val="333333"/>
                </a:solidFill>
                <a:effectLst/>
                <a:latin typeface="+mn-lt"/>
              </a:rPr>
              <a:t>y</a:t>
            </a:r>
            <a:r>
              <a:rPr lang="pt-BR" sz="1400" b="0" i="1" dirty="0">
                <a:solidFill>
                  <a:srgbClr val="333333"/>
                </a:solidFill>
                <a:effectLst/>
                <a:latin typeface="+mn-lt"/>
              </a:rPr>
              <a:t>t−1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A melhor maneira de se analisar a autocorrelação de uma série é por meio de gráficos:</a:t>
            </a:r>
          </a:p>
          <a:p>
            <a:pPr algn="l">
              <a:lnSpc>
                <a:spcPct val="150000"/>
              </a:lnSpc>
            </a:pPr>
            <a:endParaRPr lang="sv-SE" b="0" i="1" dirty="0">
              <a:solidFill>
                <a:srgbClr val="3333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477408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35FF-C006-E723-9255-29D3D4FC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F72DDC2-6E6F-7C84-10C6-41BF3A4928B7}"/>
              </a:ext>
            </a:extLst>
          </p:cNvPr>
          <p:cNvSpPr/>
          <p:nvPr/>
        </p:nvSpPr>
        <p:spPr>
          <a:xfrm>
            <a:off x="3268955" y="142875"/>
            <a:ext cx="2547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Diferenciação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B579CDD-2D24-4F4B-24EA-7A92203570AB}"/>
              </a:ext>
            </a:extLst>
          </p:cNvPr>
          <p:cNvSpPr txBox="1"/>
          <p:nvPr/>
        </p:nvSpPr>
        <p:spPr>
          <a:xfrm>
            <a:off x="366234" y="908720"/>
            <a:ext cx="8352928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0" i="0" dirty="0">
                <a:solidFill>
                  <a:srgbClr val="333333"/>
                </a:solidFill>
                <a:effectLst/>
                <a:latin typeface="Helvetica Neue"/>
              </a:rPr>
              <a:t>Claramente, a série não é estacionária. Contudo, existe um método muito simples para a tornar estacionária, que é a </a:t>
            </a:r>
            <a:r>
              <a:rPr lang="pt-BR" sz="2400" b="1" i="0" dirty="0">
                <a:solidFill>
                  <a:srgbClr val="333333"/>
                </a:solidFill>
                <a:effectLst/>
                <a:latin typeface="Helvetica Neue"/>
              </a:rPr>
              <a:t>diferenciação</a:t>
            </a:r>
            <a:r>
              <a:rPr lang="pt-BR" sz="2400" b="0" i="0" dirty="0">
                <a:solidFill>
                  <a:srgbClr val="333333"/>
                </a:solidFill>
                <a:effectLst/>
                <a:latin typeface="Helvetica Neue"/>
              </a:rPr>
              <a:t>. Ele se baseia nada mais em calcular a diferença absoluta (ou percentual) entre uma observação e a outra. O intervalo entre as observações pode ser escolhido pelo usuário.</a:t>
            </a:r>
            <a:endParaRPr lang="pt-BR" sz="2200" dirty="0"/>
          </a:p>
          <a:p>
            <a:pPr>
              <a:lnSpc>
                <a:spcPct val="150000"/>
              </a:lnSpc>
            </a:pP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264893909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29FEE-B7D5-86DC-0466-063538EC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A3B3E27-5A7C-00F1-6FBA-126D600C51DE}"/>
              </a:ext>
            </a:extLst>
          </p:cNvPr>
          <p:cNvSpPr/>
          <p:nvPr/>
        </p:nvSpPr>
        <p:spPr>
          <a:xfrm>
            <a:off x="2810497" y="142875"/>
            <a:ext cx="3464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Teste de Hipóteses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3C9207-6906-A550-1EA2-7D64CA977C15}"/>
              </a:ext>
            </a:extLst>
          </p:cNvPr>
          <p:cNvSpPr txBox="1"/>
          <p:nvPr/>
        </p:nvSpPr>
        <p:spPr>
          <a:xfrm>
            <a:off x="607800" y="1052736"/>
            <a:ext cx="7708616" cy="170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O teste clássico é o </a:t>
            </a:r>
            <a:r>
              <a:rPr lang="pt-BR" sz="2400" b="1" dirty="0"/>
              <a:t>ADF (</a:t>
            </a:r>
            <a:r>
              <a:rPr lang="pt-BR" sz="2400" b="1" dirty="0" err="1"/>
              <a:t>Augmented</a:t>
            </a:r>
            <a:r>
              <a:rPr lang="pt-BR" sz="2400" b="1" dirty="0"/>
              <a:t> </a:t>
            </a:r>
            <a:r>
              <a:rPr lang="pt-BR" sz="2400" b="1" dirty="0" err="1"/>
              <a:t>Dickey</a:t>
            </a:r>
            <a:r>
              <a:rPr lang="pt-BR" sz="2400" b="1" dirty="0"/>
              <a:t>-Fuller)</a:t>
            </a:r>
            <a:r>
              <a:rPr lang="pt-BR" sz="2400" dirty="0"/>
              <a:t>, disponível em</a:t>
            </a:r>
          </a:p>
          <a:p>
            <a:pPr>
              <a:lnSpc>
                <a:spcPct val="150000"/>
              </a:lnSpc>
            </a:pPr>
            <a:r>
              <a:rPr lang="pt-BR" sz="2400" dirty="0" err="1">
                <a:latin typeface="Courier New" panose="02070309020205020404" pitchFamily="49" charset="0"/>
              </a:rPr>
              <a:t>tseries</a:t>
            </a:r>
            <a:r>
              <a:rPr lang="pt-BR" sz="2400" dirty="0">
                <a:latin typeface="Courier New" panose="02070309020205020404" pitchFamily="49" charset="0"/>
              </a:rPr>
              <a:t>::</a:t>
            </a:r>
            <a:r>
              <a:rPr lang="pt-BR" sz="2400" dirty="0" err="1">
                <a:latin typeface="Courier New" panose="02070309020205020404" pitchFamily="49" charset="0"/>
              </a:rPr>
              <a:t>adf.test</a:t>
            </a:r>
            <a:r>
              <a:rPr lang="pt-BR" sz="2400" dirty="0">
                <a:latin typeface="Courier New" panose="02070309020205020404" pitchFamily="49" charset="0"/>
              </a:rPr>
              <a:t>()</a:t>
            </a:r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492B99F-7903-4BFC-410D-31CC5FAD8C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540" b="38735"/>
          <a:stretch>
            <a:fillRect/>
          </a:stretch>
        </p:blipFill>
        <p:spPr>
          <a:xfrm>
            <a:off x="467544" y="2996952"/>
            <a:ext cx="6950762" cy="101327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5596B93-5C76-DD11-1182-6F8E8DAF6E6D}"/>
              </a:ext>
            </a:extLst>
          </p:cNvPr>
          <p:cNvSpPr txBox="1"/>
          <p:nvPr/>
        </p:nvSpPr>
        <p:spPr>
          <a:xfrm>
            <a:off x="607800" y="4437112"/>
            <a:ext cx="7564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Se o </a:t>
            </a:r>
            <a:r>
              <a:rPr lang="pt-BR" sz="2400" i="1" dirty="0"/>
              <a:t>p-</a:t>
            </a:r>
            <a:r>
              <a:rPr lang="pt-BR" sz="2400" i="1" dirty="0" err="1"/>
              <a:t>value</a:t>
            </a:r>
            <a:r>
              <a:rPr lang="pt-BR" sz="2400" dirty="0"/>
              <a:t> for </a:t>
            </a:r>
            <a:r>
              <a:rPr lang="pt-BR" sz="2400" b="1" dirty="0"/>
              <a:t>&gt; 0.05</a:t>
            </a:r>
            <a:r>
              <a:rPr lang="pt-BR" sz="2400" dirty="0"/>
              <a:t>, a série </a:t>
            </a:r>
            <a:r>
              <a:rPr lang="pt-BR" sz="2400" b="1" dirty="0"/>
              <a:t>não é estacionária</a:t>
            </a:r>
            <a:r>
              <a:rPr lang="pt-BR" sz="2400" dirty="0"/>
              <a:t> → precisa ser diferenciada.</a:t>
            </a:r>
          </a:p>
        </p:txBody>
      </p:sp>
    </p:spTree>
    <p:extLst>
      <p:ext uri="{BB962C8B-B14F-4D97-AF65-F5344CB8AC3E}">
        <p14:creationId xmlns:p14="http://schemas.microsoft.com/office/powerpoint/2010/main" val="256752411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03F15-BF13-73F9-21C8-535E5231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35274D3-7395-8270-D1F5-CB06F58D90F6}"/>
              </a:ext>
            </a:extLst>
          </p:cNvPr>
          <p:cNvSpPr/>
          <p:nvPr/>
        </p:nvSpPr>
        <p:spPr>
          <a:xfrm>
            <a:off x="2206967" y="142875"/>
            <a:ext cx="46714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Modelos </a:t>
            </a:r>
            <a:r>
              <a:rPr lang="pt-BR" sz="2400" b="1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Autoregressivos</a:t>
            </a:r>
            <a:endParaRPr lang="pt-BR" sz="2400" b="1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C9B173-782D-450A-AC4F-0C2F1340D068}"/>
              </a:ext>
            </a:extLst>
          </p:cNvPr>
          <p:cNvSpPr txBox="1"/>
          <p:nvPr/>
        </p:nvSpPr>
        <p:spPr>
          <a:xfrm>
            <a:off x="330230" y="908720"/>
            <a:ext cx="842493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A diferença entre modelos regressivos e </a:t>
            </a:r>
            <a:r>
              <a:rPr lang="pt-BR" sz="2200" b="0" i="0" dirty="0" err="1">
                <a:solidFill>
                  <a:srgbClr val="333333"/>
                </a:solidFill>
                <a:effectLst/>
                <a:latin typeface="+mn-lt"/>
              </a:rPr>
              <a:t>autoregressivos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 é que os primeiros preveem o valor de uma variável de interesse usando variáveis independentes. Já os segundos usam </a:t>
            </a:r>
            <a:r>
              <a:rPr lang="pt-BR" sz="2200" dirty="0">
                <a:solidFill>
                  <a:srgbClr val="333333"/>
                </a:solidFill>
                <a:latin typeface="+mn-lt"/>
              </a:rPr>
              <a:t>os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 valores passados da própria variável. Matematicamente, um modelo </a:t>
            </a:r>
            <a:r>
              <a:rPr lang="pt-BR" sz="2200" b="0" i="0" dirty="0" err="1">
                <a:solidFill>
                  <a:srgbClr val="333333"/>
                </a:solidFill>
                <a:effectLst/>
                <a:latin typeface="+mn-lt"/>
              </a:rPr>
              <a:t>autoregressivo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 é descrito como: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12D727F-5279-5EB1-07F7-3BD6BD604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068960"/>
            <a:ext cx="5795231" cy="34012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9064755-D483-0025-B1DA-8A94BBD8F42D}"/>
              </a:ext>
            </a:extLst>
          </p:cNvPr>
          <p:cNvSpPr txBox="1"/>
          <p:nvPr/>
        </p:nvSpPr>
        <p:spPr>
          <a:xfrm>
            <a:off x="336138" y="3825621"/>
            <a:ext cx="841902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Onde </a:t>
            </a:r>
            <a:r>
              <a:rPr lang="pt-BR" sz="2200" b="0" i="1" dirty="0">
                <a:solidFill>
                  <a:srgbClr val="333333"/>
                </a:solidFill>
                <a:effectLst/>
                <a:latin typeface="+mn-lt"/>
              </a:rPr>
              <a:t>c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 é uma constante e </a:t>
            </a:r>
            <a:r>
              <a:rPr lang="pt-BR" sz="2200" b="0" i="1" dirty="0">
                <a:solidFill>
                  <a:srgbClr val="333333"/>
                </a:solidFill>
                <a:effectLst/>
                <a:latin typeface="+mn-lt"/>
              </a:rPr>
              <a:t>e</a:t>
            </a:r>
            <a:r>
              <a:rPr lang="pt-BR" sz="1400" b="0" i="1" dirty="0">
                <a:solidFill>
                  <a:srgbClr val="333333"/>
                </a:solidFill>
                <a:effectLst/>
                <a:latin typeface="+mn-lt"/>
              </a:rPr>
              <a:t>t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 é um erro aleatório (ruído branco). Esse tipo de modelo é chamado de </a:t>
            </a:r>
            <a:r>
              <a:rPr lang="pt-BR" sz="2200" b="1" i="0" dirty="0">
                <a:solidFill>
                  <a:srgbClr val="333333"/>
                </a:solidFill>
                <a:effectLst/>
                <a:latin typeface="+mn-lt"/>
              </a:rPr>
              <a:t>modelo AR(p)</a:t>
            </a:r>
            <a:r>
              <a:rPr lang="pt-BR" sz="2200" b="0" i="0" dirty="0">
                <a:solidFill>
                  <a:srgbClr val="333333"/>
                </a:solidFill>
                <a:effectLst/>
                <a:latin typeface="+mn-lt"/>
              </a:rPr>
              <a:t> e são normalmente restritos a séries estacionárias.</a:t>
            </a:r>
          </a:p>
          <a:p>
            <a:endParaRPr lang="pt-BR" sz="2200" dirty="0">
              <a:solidFill>
                <a:srgbClr val="333333"/>
              </a:solidFill>
              <a:latin typeface="+mn-lt"/>
            </a:endParaRPr>
          </a:p>
          <a:p>
            <a:r>
              <a:rPr lang="pt-BR" sz="2000" u="sng" dirty="0">
                <a:solidFill>
                  <a:schemeClr val="accent2"/>
                </a:solidFill>
                <a:latin typeface="+mn-lt"/>
              </a:rPr>
              <a:t>Importante</a:t>
            </a:r>
            <a:r>
              <a:rPr lang="pt-BR" sz="2000" dirty="0">
                <a:solidFill>
                  <a:schemeClr val="accent2"/>
                </a:solidFill>
                <a:latin typeface="+mn-lt"/>
              </a:rPr>
              <a:t>: </a:t>
            </a:r>
            <a:r>
              <a:rPr lang="pt-BR" sz="2000" i="1" dirty="0">
                <a:solidFill>
                  <a:schemeClr val="accent2"/>
                </a:solidFill>
                <a:latin typeface="+mn-lt"/>
              </a:rPr>
              <a:t>Esse modelo pressupõe que a média, variância e </a:t>
            </a:r>
            <a:r>
              <a:rPr lang="pt-BR" sz="2000" i="1" dirty="0" err="1">
                <a:solidFill>
                  <a:schemeClr val="accent2"/>
                </a:solidFill>
                <a:latin typeface="+mn-lt"/>
              </a:rPr>
              <a:t>autocovariância</a:t>
            </a:r>
            <a:r>
              <a:rPr lang="pt-BR" sz="2000" i="1" dirty="0">
                <a:solidFill>
                  <a:schemeClr val="accent2"/>
                </a:solidFill>
                <a:latin typeface="+mn-lt"/>
              </a:rPr>
              <a:t> da série não mudam ao longo do tempo, ou seja, que ela seja estacionária.</a:t>
            </a:r>
          </a:p>
        </p:txBody>
      </p:sp>
    </p:spTree>
    <p:extLst>
      <p:ext uri="{BB962C8B-B14F-4D97-AF65-F5344CB8AC3E}">
        <p14:creationId xmlns:p14="http://schemas.microsoft.com/office/powerpoint/2010/main" val="142101132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657C-3FB4-9D90-8D61-887268DBD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FA0EF32-17BF-A41D-D25B-81EFF6E5FAFC}"/>
              </a:ext>
            </a:extLst>
          </p:cNvPr>
          <p:cNvSpPr/>
          <p:nvPr/>
        </p:nvSpPr>
        <p:spPr>
          <a:xfrm>
            <a:off x="2881031" y="142875"/>
            <a:ext cx="33233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Fórmulas Manuais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39F7FD1-D431-FD7C-BE78-2037AD6825C4}"/>
              </a:ext>
            </a:extLst>
          </p:cNvPr>
          <p:cNvSpPr txBox="1"/>
          <p:nvPr/>
        </p:nvSpPr>
        <p:spPr>
          <a:xfrm>
            <a:off x="395536" y="1124744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ARIMA(1,0,0)</a:t>
            </a:r>
            <a:r>
              <a:rPr lang="pt-BR" sz="2400" dirty="0"/>
              <a:t> (estacionária no nível):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7E734BD-1875-C25C-08A9-34E7A6AA4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33" y="1611844"/>
            <a:ext cx="2482406" cy="593019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490D9C-D24C-3671-49B2-E1067BD0F0DD}"/>
              </a:ext>
            </a:extLst>
          </p:cNvPr>
          <p:cNvSpPr txBox="1"/>
          <p:nvPr/>
        </p:nvSpPr>
        <p:spPr>
          <a:xfrm>
            <a:off x="395536" y="2636912"/>
            <a:ext cx="6977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ARIMA(1,1,0) com </a:t>
            </a:r>
            <a:r>
              <a:rPr lang="pt-BR" sz="2400" b="1" dirty="0" err="1"/>
              <a:t>drift</a:t>
            </a:r>
            <a:r>
              <a:rPr lang="pt-BR" sz="2400" dirty="0"/>
              <a:t> (estacionária em </a:t>
            </a:r>
            <a:r>
              <a:rPr lang="pt-BR" sz="2400" dirty="0" err="1"/>
              <a:t>Δy</a:t>
            </a:r>
            <a:r>
              <a:rPr lang="pt-BR" sz="2400" dirty="0"/>
              <a:t>):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594188B-ED65-031C-A0FD-0163B5A0B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174" y="3267052"/>
            <a:ext cx="3829106" cy="46166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EE8B6993-5801-F427-4F32-04F6A7C7B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4293096"/>
            <a:ext cx="3497460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7426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11407</TotalTime>
  <Words>478</Words>
  <Application>Microsoft Office PowerPoint</Application>
  <PresentationFormat>Apresentação na tela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Courier New</vt:lpstr>
      <vt:lpstr>Helvetica Neue</vt:lpstr>
      <vt:lpstr>Times New Roman</vt:lpstr>
      <vt:lpstr>Verdana</vt:lpstr>
      <vt:lpstr>Personalizar design</vt:lpstr>
      <vt:lpstr>Técnicas Estatísticas de Predição Sistemas de Informação  Aula 27  Séries Temporais: Modelos ARIMA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1015</cp:revision>
  <dcterms:created xsi:type="dcterms:W3CDTF">2005-11-03T13:11:02Z</dcterms:created>
  <dcterms:modified xsi:type="dcterms:W3CDTF">2025-11-11T16:53:33Z</dcterms:modified>
</cp:coreProperties>
</file>