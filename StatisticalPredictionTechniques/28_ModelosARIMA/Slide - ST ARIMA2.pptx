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"/>
  </p:notesMasterIdLst>
  <p:handoutMasterIdLst>
    <p:handoutMasterId r:id="rId7"/>
  </p:handoutMasterIdLst>
  <p:sldIdLst>
    <p:sldId id="256" r:id="rId2"/>
    <p:sldId id="274" r:id="rId3"/>
    <p:sldId id="278" r:id="rId4"/>
    <p:sldId id="279" r:id="rId5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80B"/>
    <a:srgbClr val="CCCCFF"/>
    <a:srgbClr val="EED01A"/>
    <a:srgbClr val="FF9966"/>
    <a:srgbClr val="FFCC66"/>
    <a:srgbClr val="EAEAEA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976D4F-DC4F-412D-A290-67674B9943DD}" v="2" dt="2025-11-12T18:50:03.0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0" autoAdjust="0"/>
    <p:restoredTop sz="94595" autoAdjust="0"/>
  </p:normalViewPr>
  <p:slideViewPr>
    <p:cSldViewPr>
      <p:cViewPr varScale="1">
        <p:scale>
          <a:sx n="71" d="100"/>
          <a:sy n="71" d="100"/>
        </p:scale>
        <p:origin x="1714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o Borgatto" userId="e50a874dfa6d3f1a" providerId="LiveId" clId="{C44BD5C6-C92A-4990-911F-28F9A2FB6307}"/>
    <pc:docChg chg="custSel delSld modSld">
      <pc:chgData name="Adriano Borgatto" userId="e50a874dfa6d3f1a" providerId="LiveId" clId="{C44BD5C6-C92A-4990-911F-28F9A2FB6307}" dt="2025-11-12T19:39:12.500" v="88" actId="2696"/>
      <pc:docMkLst>
        <pc:docMk/>
      </pc:docMkLst>
      <pc:sldChg chg="modSp mod">
        <pc:chgData name="Adriano Borgatto" userId="e50a874dfa6d3f1a" providerId="LiveId" clId="{C44BD5C6-C92A-4990-911F-28F9A2FB6307}" dt="2025-11-12T18:25:02.992" v="8" actId="255"/>
        <pc:sldMkLst>
          <pc:docMk/>
          <pc:sldMk cId="1080639881" sldId="274"/>
        </pc:sldMkLst>
        <pc:spChg chg="mod">
          <ac:chgData name="Adriano Borgatto" userId="e50a874dfa6d3f1a" providerId="LiveId" clId="{C44BD5C6-C92A-4990-911F-28F9A2FB6307}" dt="2025-11-12T18:24:55.818" v="6" actId="1035"/>
          <ac:spMkLst>
            <pc:docMk/>
            <pc:sldMk cId="1080639881" sldId="274"/>
            <ac:spMk id="5" creationId="{865664AF-ABFE-480B-B954-2FE7AA5ACDA4}"/>
          </ac:spMkLst>
        </pc:spChg>
        <pc:spChg chg="mod">
          <ac:chgData name="Adriano Borgatto" userId="e50a874dfa6d3f1a" providerId="LiveId" clId="{C44BD5C6-C92A-4990-911F-28F9A2FB6307}" dt="2025-11-12T18:25:02.992" v="8" actId="255"/>
          <ac:spMkLst>
            <pc:docMk/>
            <pc:sldMk cId="1080639881" sldId="274"/>
            <ac:spMk id="6" creationId="{BCB231BD-D4AB-7F1E-D738-F1C284ECDACF}"/>
          </ac:spMkLst>
        </pc:spChg>
        <pc:picChg chg="mod">
          <ac:chgData name="Adriano Borgatto" userId="e50a874dfa6d3f1a" providerId="LiveId" clId="{C44BD5C6-C92A-4990-911F-28F9A2FB6307}" dt="2025-11-12T18:24:55.818" v="6" actId="1035"/>
          <ac:picMkLst>
            <pc:docMk/>
            <pc:sldMk cId="1080639881" sldId="274"/>
            <ac:picMk id="3" creationId="{FF80659C-41FD-349E-1703-3AFB4BCA878B}"/>
          </ac:picMkLst>
        </pc:picChg>
      </pc:sldChg>
      <pc:sldChg chg="addSp delSp modSp mod">
        <pc:chgData name="Adriano Borgatto" userId="e50a874dfa6d3f1a" providerId="LiveId" clId="{C44BD5C6-C92A-4990-911F-28F9A2FB6307}" dt="2025-11-12T18:50:25.655" v="85" actId="20577"/>
        <pc:sldMkLst>
          <pc:docMk/>
          <pc:sldMk cId="1661843326" sldId="279"/>
        </pc:sldMkLst>
        <pc:spChg chg="add mod">
          <ac:chgData name="Adriano Borgatto" userId="e50a874dfa6d3f1a" providerId="LiveId" clId="{C44BD5C6-C92A-4990-911F-28F9A2FB6307}" dt="2025-11-12T18:50:25.655" v="85" actId="20577"/>
          <ac:spMkLst>
            <pc:docMk/>
            <pc:sldMk cId="1661843326" sldId="279"/>
            <ac:spMk id="2" creationId="{853EB3EE-EC3D-FBF0-F1DE-0582F3777249}"/>
          </ac:spMkLst>
        </pc:spChg>
        <pc:spChg chg="del">
          <ac:chgData name="Adriano Borgatto" userId="e50a874dfa6d3f1a" providerId="LiveId" clId="{C44BD5C6-C92A-4990-911F-28F9A2FB6307}" dt="2025-11-12T18:49:34.293" v="10" actId="478"/>
          <ac:spMkLst>
            <pc:docMk/>
            <pc:sldMk cId="1661843326" sldId="279"/>
            <ac:spMk id="6" creationId="{E2422F1D-AC8E-8EB7-69A5-27E07D5A6439}"/>
          </ac:spMkLst>
        </pc:spChg>
        <pc:spChg chg="mod">
          <ac:chgData name="Adriano Borgatto" userId="e50a874dfa6d3f1a" providerId="LiveId" clId="{C44BD5C6-C92A-4990-911F-28F9A2FB6307}" dt="2025-11-12T18:49:40.694" v="38" actId="1035"/>
          <ac:spMkLst>
            <pc:docMk/>
            <pc:sldMk cId="1661843326" sldId="279"/>
            <ac:spMk id="10" creationId="{CE9C6BB1-5DCE-6EC0-3C5E-FCB3421B13F1}"/>
          </ac:spMkLst>
        </pc:spChg>
        <pc:picChg chg="mod">
          <ac:chgData name="Adriano Borgatto" userId="e50a874dfa6d3f1a" providerId="LiveId" clId="{C44BD5C6-C92A-4990-911F-28F9A2FB6307}" dt="2025-11-12T18:49:40.694" v="38" actId="1035"/>
          <ac:picMkLst>
            <pc:docMk/>
            <pc:sldMk cId="1661843326" sldId="279"/>
            <ac:picMk id="8" creationId="{C59ECA9D-3581-3C35-FC90-EE696B8C7789}"/>
          </ac:picMkLst>
        </pc:picChg>
      </pc:sldChg>
      <pc:sldChg chg="del">
        <pc:chgData name="Adriano Borgatto" userId="e50a874dfa6d3f1a" providerId="LiveId" clId="{C44BD5C6-C92A-4990-911F-28F9A2FB6307}" dt="2025-11-12T18:50:31.254" v="86" actId="47"/>
        <pc:sldMkLst>
          <pc:docMk/>
          <pc:sldMk cId="4106166134" sldId="281"/>
        </pc:sldMkLst>
      </pc:sldChg>
      <pc:sldChg chg="del">
        <pc:chgData name="Adriano Borgatto" userId="e50a874dfa6d3f1a" providerId="LiveId" clId="{C44BD5C6-C92A-4990-911F-28F9A2FB6307}" dt="2025-11-12T19:39:12.500" v="88" actId="2696"/>
        <pc:sldMkLst>
          <pc:docMk/>
          <pc:sldMk cId="3965801411" sldId="282"/>
        </pc:sldMkLst>
      </pc:sldChg>
      <pc:sldChg chg="del">
        <pc:chgData name="Adriano Borgatto" userId="e50a874dfa6d3f1a" providerId="LiveId" clId="{C44BD5C6-C92A-4990-911F-28F9A2FB6307}" dt="2025-11-12T18:48:36.085" v="9" actId="47"/>
        <pc:sldMkLst>
          <pc:docMk/>
          <pc:sldMk cId="1646766932" sldId="283"/>
        </pc:sldMkLst>
      </pc:sldChg>
      <pc:sldChg chg="del">
        <pc:chgData name="Adriano Borgatto" userId="e50a874dfa6d3f1a" providerId="LiveId" clId="{C44BD5C6-C92A-4990-911F-28F9A2FB6307}" dt="2025-11-12T18:48:36.085" v="9" actId="47"/>
        <pc:sldMkLst>
          <pc:docMk/>
          <pc:sldMk cId="787564132" sldId="284"/>
        </pc:sldMkLst>
      </pc:sldChg>
      <pc:sldChg chg="del">
        <pc:chgData name="Adriano Borgatto" userId="e50a874dfa6d3f1a" providerId="LiveId" clId="{C44BD5C6-C92A-4990-911F-28F9A2FB6307}" dt="2025-11-12T19:39:09.301" v="87" actId="2696"/>
        <pc:sldMkLst>
          <pc:docMk/>
          <pc:sldMk cId="3580865870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616F083-5C86-4226-B13F-D7DE5446434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66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B3165BA-3187-40A9-B705-41D131A16ED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5598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3352800" y="1493838"/>
            <a:ext cx="553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400" b="1">
                <a:solidFill>
                  <a:schemeClr val="bg1"/>
                </a:solidFill>
                <a:latin typeface="Verdana" panose="020B0604030504040204" pitchFamily="34" charset="0"/>
              </a:rPr>
              <a:t>CMIP- Centro de Metrologia e Inovação em Processos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1447800"/>
            <a:ext cx="9144000" cy="3810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684213" y="1484313"/>
            <a:ext cx="708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b="1">
                <a:solidFill>
                  <a:schemeClr val="bg1"/>
                </a:solidFill>
                <a:latin typeface="Verdana" panose="020B0604030504040204" pitchFamily="34" charset="0"/>
              </a:rPr>
              <a:t>UFSC- UNIVERSIDADE FEDERAL DE SANTA CATARINA</a:t>
            </a:r>
          </a:p>
        </p:txBody>
      </p:sp>
      <p:pic>
        <p:nvPicPr>
          <p:cNvPr id="8" name="Picture 2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12303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1476375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781300"/>
            <a:ext cx="7772400" cy="1685925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32213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5456201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9258905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49369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6774256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23615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575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4970313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910250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356438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38925" y="908050"/>
            <a:ext cx="2058988" cy="52181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08050"/>
            <a:ext cx="6029325" cy="52181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1567545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908050"/>
            <a:ext cx="8240713" cy="521811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390443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457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28775"/>
            <a:ext cx="8229600" cy="4497388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711978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0805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686800" y="0"/>
            <a:ext cx="457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09600"/>
            <a:ext cx="9144000" cy="76200"/>
          </a:xfrm>
          <a:prstGeom prst="rect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685800"/>
            <a:ext cx="9144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1" name="Rectangle 12"/>
          <p:cNvSpPr>
            <a:spLocks noChangeArrowheads="1"/>
          </p:cNvSpPr>
          <p:nvPr/>
        </p:nvSpPr>
        <p:spPr bwMode="auto">
          <a:xfrm>
            <a:off x="0" y="685800"/>
            <a:ext cx="9172575" cy="76200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3" name="Rectangle 15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40000"/>
        </a:spcAft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4000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2"/>
          <p:cNvSpPr>
            <a:spLocks noGrp="1" noChangeArrowheads="1"/>
          </p:cNvSpPr>
          <p:nvPr>
            <p:ph type="ctrTitle"/>
          </p:nvPr>
        </p:nvSpPr>
        <p:spPr>
          <a:xfrm>
            <a:off x="396627" y="2183958"/>
            <a:ext cx="8351837" cy="20313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altLang="pt-BR" sz="3400" dirty="0"/>
              <a:t>Técnicas Estatísticas de Predição</a:t>
            </a:r>
            <a:br>
              <a:rPr lang="pt-BR" altLang="pt-BR" sz="3400" dirty="0"/>
            </a:br>
            <a:r>
              <a:rPr lang="pt-BR" altLang="pt-BR" sz="2200" b="0" dirty="0"/>
              <a:t>Sistemas de Informação</a:t>
            </a:r>
            <a:br>
              <a:rPr lang="pt-BR" altLang="pt-BR" sz="2200" b="0" dirty="0"/>
            </a:br>
            <a:br>
              <a:rPr lang="pt-BR" altLang="pt-BR" sz="2200" b="0" dirty="0"/>
            </a:br>
            <a:r>
              <a:rPr lang="pt-BR" altLang="pt-BR" sz="2200" b="0" dirty="0">
                <a:solidFill>
                  <a:srgbClr val="FF0000"/>
                </a:solidFill>
              </a:rPr>
              <a:t>Aula 28</a:t>
            </a:r>
            <a:br>
              <a:rPr lang="pt-BR" altLang="pt-BR" sz="2200" b="0" dirty="0">
                <a:solidFill>
                  <a:srgbClr val="FF0000"/>
                </a:solidFill>
              </a:rPr>
            </a:br>
            <a:br>
              <a:rPr lang="pt-BR" altLang="pt-BR" sz="600" b="0" dirty="0">
                <a:solidFill>
                  <a:srgbClr val="FF0000"/>
                </a:solidFill>
              </a:rPr>
            </a:br>
            <a:r>
              <a:rPr lang="pt-BR" altLang="pt-BR" sz="2000" b="0" dirty="0">
                <a:solidFill>
                  <a:schemeClr val="tx1"/>
                </a:solidFill>
              </a:rPr>
              <a:t>Séries Temporais: Modelos ARIMA</a:t>
            </a:r>
            <a:endParaRPr lang="pt-BR" altLang="pt-BR" sz="2000" dirty="0">
              <a:solidFill>
                <a:schemeClr val="tx1"/>
              </a:solidFill>
            </a:endParaRP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90366" y="4905375"/>
            <a:ext cx="362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altLang="pt-BR" dirty="0">
                <a:cs typeface="Times New Roman" pitchFamily="18" charset="0"/>
              </a:rPr>
              <a:t>ADRIANO FERRETI BORGATTO</a:t>
            </a:r>
            <a:endParaRPr lang="pt-BR" altLang="pt-BR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168491" y="142875"/>
            <a:ext cx="4748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Modelos de Médias Móveis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65664AF-ABFE-480B-B954-2FE7AA5ACDA4}"/>
              </a:ext>
            </a:extLst>
          </p:cNvPr>
          <p:cNvSpPr txBox="1"/>
          <p:nvPr/>
        </p:nvSpPr>
        <p:spPr>
          <a:xfrm>
            <a:off x="251520" y="764704"/>
            <a:ext cx="83529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pt-BR" sz="2400" b="0" i="0" dirty="0">
                <a:solidFill>
                  <a:srgbClr val="333333"/>
                </a:solidFill>
                <a:effectLst/>
                <a:latin typeface="+mn-lt"/>
              </a:rPr>
              <a:t>Modelos de média móvel utilizam valores passados de erro de previsão de maneira semelhante a um modelo de regressão: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F80659C-41FD-349E-1703-3AFB4BCA8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189" y="1844824"/>
            <a:ext cx="5236051" cy="47379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CB231BD-D4AB-7F1E-D738-F1C284ECDACF}"/>
              </a:ext>
            </a:extLst>
          </p:cNvPr>
          <p:cNvSpPr txBox="1"/>
          <p:nvPr/>
        </p:nvSpPr>
        <p:spPr>
          <a:xfrm>
            <a:off x="467544" y="2276872"/>
            <a:ext cx="81369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Um modelo acima é chamado de </a:t>
            </a:r>
            <a:r>
              <a:rPr lang="pt-BR" sz="2200" b="1" i="0" dirty="0">
                <a:solidFill>
                  <a:srgbClr val="333333"/>
                </a:solidFill>
                <a:effectLst/>
                <a:latin typeface="+mn-lt"/>
              </a:rPr>
              <a:t>modelo MA(q)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 e pode ser interpretado como um modelo onde </a:t>
            </a:r>
            <a:r>
              <a:rPr lang="pt-BR" sz="2200" b="0" i="1" dirty="0" err="1">
                <a:solidFill>
                  <a:srgbClr val="333333"/>
                </a:solidFill>
                <a:effectLst/>
                <a:latin typeface="+mn-lt"/>
              </a:rPr>
              <a:t>y</a:t>
            </a:r>
            <a:r>
              <a:rPr lang="pt-BR" sz="1400" b="0" i="1" dirty="0" err="1">
                <a:solidFill>
                  <a:srgbClr val="333333"/>
                </a:solidFill>
                <a:effectLst/>
                <a:latin typeface="+mn-lt"/>
              </a:rPr>
              <a:t>t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 é uma média ponderada dos erros de previsão passados. </a:t>
            </a:r>
            <a:r>
              <a:rPr lang="pt-BR" sz="2200" dirty="0"/>
              <a:t>O modelo </a:t>
            </a:r>
            <a:r>
              <a:rPr lang="pt-BR" sz="2200" b="1" dirty="0"/>
              <a:t>MA</a:t>
            </a:r>
            <a:r>
              <a:rPr lang="pt-BR" sz="2200" dirty="0"/>
              <a:t> só é válido para séries estacionárias.</a:t>
            </a:r>
          </a:p>
          <a:p>
            <a:endParaRPr lang="pt-BR" sz="600" b="0" i="0" dirty="0">
              <a:solidFill>
                <a:srgbClr val="333333"/>
              </a:solidFill>
              <a:effectLst/>
              <a:latin typeface="+mn-lt"/>
            </a:endParaRPr>
          </a:p>
          <a:p>
            <a:r>
              <a:rPr lang="pt-BR" sz="2200" b="0" i="0" dirty="0">
                <a:solidFill>
                  <a:schemeClr val="accent2"/>
                </a:solidFill>
                <a:effectLst/>
                <a:latin typeface="+mn-lt"/>
              </a:rPr>
              <a:t>Comparação com modelo de regressão:</a:t>
            </a:r>
          </a:p>
          <a:p>
            <a:endParaRPr lang="pt-BR" sz="1000" dirty="0">
              <a:solidFill>
                <a:srgbClr val="333333"/>
              </a:solidFill>
              <a:latin typeface="+mn-l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72867F4-AEA1-B0EC-7AE9-E5C171CAE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89" y="4150673"/>
            <a:ext cx="8187375" cy="223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3988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096631" y="142875"/>
            <a:ext cx="28921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Modelos ARIMA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F5CB2-00CF-FE58-74D7-BB5A9A44038A}"/>
              </a:ext>
            </a:extLst>
          </p:cNvPr>
          <p:cNvSpPr txBox="1"/>
          <p:nvPr/>
        </p:nvSpPr>
        <p:spPr>
          <a:xfrm>
            <a:off x="395536" y="1000581"/>
            <a:ext cx="80648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A combinação entre os métodos de diferenciação e os modelos de </a:t>
            </a:r>
            <a:r>
              <a:rPr lang="pt-BR" sz="2200" b="0" i="0" dirty="0" err="1">
                <a:solidFill>
                  <a:srgbClr val="333333"/>
                </a:solidFill>
                <a:effectLst/>
                <a:latin typeface="+mn-lt"/>
              </a:rPr>
              <a:t>autoregressão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 e média móvel resultam em um modelo ARIMA (</a:t>
            </a:r>
            <a:r>
              <a:rPr lang="pt-BR" sz="2200" b="0" i="1" dirty="0" err="1">
                <a:solidFill>
                  <a:srgbClr val="333333"/>
                </a:solidFill>
                <a:effectLst/>
                <a:latin typeface="+mn-lt"/>
              </a:rPr>
              <a:t>AutoRegressive</a:t>
            </a:r>
            <a:r>
              <a:rPr lang="pt-BR" sz="2200" b="0" i="1" dirty="0">
                <a:solidFill>
                  <a:srgbClr val="333333"/>
                </a:solidFill>
                <a:effectLst/>
                <a:latin typeface="+mn-lt"/>
              </a:rPr>
              <a:t> </a:t>
            </a:r>
            <a:r>
              <a:rPr lang="pt-BR" sz="2200" b="0" i="1" dirty="0" err="1">
                <a:solidFill>
                  <a:srgbClr val="333333"/>
                </a:solidFill>
                <a:effectLst/>
                <a:latin typeface="+mn-lt"/>
              </a:rPr>
              <a:t>Integrated</a:t>
            </a:r>
            <a:r>
              <a:rPr lang="pt-BR" sz="2200" b="0" i="1" dirty="0">
                <a:solidFill>
                  <a:srgbClr val="333333"/>
                </a:solidFill>
                <a:effectLst/>
                <a:latin typeface="+mn-lt"/>
              </a:rPr>
              <a:t> Moving </a:t>
            </a:r>
            <a:r>
              <a:rPr lang="pt-BR" sz="2200" b="0" i="1" dirty="0" err="1">
                <a:solidFill>
                  <a:srgbClr val="333333"/>
                </a:solidFill>
                <a:effectLst/>
                <a:latin typeface="+mn-lt"/>
              </a:rPr>
              <a:t>Average</a:t>
            </a:r>
            <a:r>
              <a:rPr lang="pt-BR" sz="2200" b="0" i="1" dirty="0">
                <a:solidFill>
                  <a:srgbClr val="333333"/>
                </a:solidFill>
                <a:effectLst/>
                <a:latin typeface="+mn-lt"/>
              </a:rPr>
              <a:t> model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) não-sazonal, que pode ser descrito matematicamente como:</a:t>
            </a:r>
            <a:endParaRPr lang="pt-BR" sz="2200" dirty="0">
              <a:latin typeface="+mn-lt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1559EE4-858E-971E-76FC-C38977FBD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420888"/>
            <a:ext cx="6814809" cy="43088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E612E41-586A-93A0-58E8-CCD527169303}"/>
              </a:ext>
            </a:extLst>
          </p:cNvPr>
          <p:cNvSpPr txBox="1"/>
          <p:nvPr/>
        </p:nvSpPr>
        <p:spPr>
          <a:xfrm>
            <a:off x="416746" y="2996952"/>
            <a:ext cx="78996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Onde </a:t>
            </a:r>
            <a:r>
              <a:rPr lang="pt-BR" sz="2200" b="0" i="1" dirty="0" err="1">
                <a:solidFill>
                  <a:srgbClr val="333333"/>
                </a:solidFill>
                <a:effectLst/>
                <a:latin typeface="+mn-lt"/>
              </a:rPr>
              <a:t>ý</a:t>
            </a:r>
            <a:r>
              <a:rPr lang="pt-BR" sz="1400" b="0" i="1" dirty="0" err="1">
                <a:solidFill>
                  <a:srgbClr val="333333"/>
                </a:solidFill>
                <a:effectLst/>
                <a:latin typeface="+mn-lt"/>
              </a:rPr>
              <a:t>t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 é a série diferenciada. A equação acima é o que descreve o modelo </a:t>
            </a:r>
            <a:r>
              <a:rPr lang="pt-BR" sz="2200" b="1" i="0" dirty="0">
                <a:solidFill>
                  <a:srgbClr val="333333"/>
                </a:solidFill>
                <a:effectLst/>
                <a:latin typeface="+mn-lt"/>
              </a:rPr>
              <a:t>ARIMA(p, d, q)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, onde:</a:t>
            </a:r>
            <a:endParaRPr lang="pt-BR" sz="2200" dirty="0">
              <a:latin typeface="+mn-lt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6A0D3E3-CE9D-A1AD-53F7-7DD7251F6924}"/>
              </a:ext>
            </a:extLst>
          </p:cNvPr>
          <p:cNvSpPr txBox="1"/>
          <p:nvPr/>
        </p:nvSpPr>
        <p:spPr>
          <a:xfrm>
            <a:off x="802563" y="3911570"/>
            <a:ext cx="691183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333333"/>
                </a:solidFill>
                <a:latin typeface="MJXc-TeX-math-I"/>
              </a:rPr>
              <a:t> </a:t>
            </a:r>
            <a:r>
              <a:rPr lang="pt-BR" sz="2200" b="1" i="1" dirty="0">
                <a:solidFill>
                  <a:srgbClr val="333333"/>
                </a:solidFill>
                <a:effectLst/>
                <a:latin typeface="Helvetica Neue"/>
              </a:rPr>
              <a:t>p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 é a ordem do modelo </a:t>
            </a:r>
            <a:r>
              <a:rPr lang="pt-BR" sz="2200" b="0" i="0" dirty="0" err="1">
                <a:solidFill>
                  <a:srgbClr val="333333"/>
                </a:solidFill>
                <a:effectLst/>
                <a:latin typeface="Helvetica Neue"/>
              </a:rPr>
              <a:t>autoregressivo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;</a:t>
            </a:r>
            <a:b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</a:br>
            <a:endParaRPr lang="pt-BR" sz="6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pt-BR" sz="2200" b="1" i="1" dirty="0">
                <a:solidFill>
                  <a:srgbClr val="333333"/>
                </a:solidFill>
                <a:effectLst/>
                <a:latin typeface="Helvetica Neue"/>
              </a:rPr>
              <a:t>d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 é o grau de diferenciação;</a:t>
            </a:r>
            <a:b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</a:br>
            <a:endParaRPr lang="pt-BR" sz="6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pt-BR" sz="2200" b="1" i="1" dirty="0">
                <a:solidFill>
                  <a:srgbClr val="333333"/>
                </a:solidFill>
                <a:effectLst/>
                <a:latin typeface="Helvetica Neue"/>
              </a:rPr>
              <a:t>q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Helvetica Neue"/>
              </a:rPr>
              <a:t> é a ordem do modelo de média móvel.</a:t>
            </a:r>
          </a:p>
        </p:txBody>
      </p:sp>
    </p:spTree>
    <p:extLst>
      <p:ext uri="{BB962C8B-B14F-4D97-AF65-F5344CB8AC3E}">
        <p14:creationId xmlns:p14="http://schemas.microsoft.com/office/powerpoint/2010/main" val="73158477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2D56-90D4-4214-D5A4-3431E12D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EF8456E-30B2-66BA-70C4-C36A4A5E8994}"/>
              </a:ext>
            </a:extLst>
          </p:cNvPr>
          <p:cNvSpPr/>
          <p:nvPr/>
        </p:nvSpPr>
        <p:spPr>
          <a:xfrm>
            <a:off x="2334408" y="142875"/>
            <a:ext cx="44165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Exemplo: Modelo ARIMA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E9C6BB1-5DCE-6EC0-3C5E-FCB3421B13F1}"/>
              </a:ext>
            </a:extLst>
          </p:cNvPr>
          <p:cNvSpPr txBox="1"/>
          <p:nvPr/>
        </p:nvSpPr>
        <p:spPr>
          <a:xfrm>
            <a:off x="388378" y="908720"/>
            <a:ext cx="821606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Casos particulares do modelo ARIMA</a:t>
            </a:r>
            <a:endParaRPr lang="pt-BR" sz="2200" dirty="0">
              <a:latin typeface="+mn-l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59ECA9D-3581-3C35-FC90-EE696B8C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4784"/>
            <a:ext cx="9036496" cy="221864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53EB3EE-EC3D-FBF0-F1DE-0582F3777249}"/>
              </a:ext>
            </a:extLst>
          </p:cNvPr>
          <p:cNvSpPr txBox="1"/>
          <p:nvPr/>
        </p:nvSpPr>
        <p:spPr>
          <a:xfrm>
            <a:off x="395536" y="4005064"/>
            <a:ext cx="8064896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Modelo ARIMA com comportamento Sazonal</a:t>
            </a:r>
          </a:p>
          <a:p>
            <a:pPr algn="ctr"/>
            <a:r>
              <a:rPr lang="it-IT" sz="2400" b="0" i="0" dirty="0">
                <a:solidFill>
                  <a:srgbClr val="333333"/>
                </a:solidFill>
                <a:effectLst/>
                <a:latin typeface="Helvetica Neue"/>
              </a:rPr>
              <a:t>ARIMA 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in-R"/>
              </a:rPr>
              <a:t>(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th-I"/>
              </a:rPr>
              <a:t>p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th-I"/>
              </a:rPr>
              <a:t>d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th-I"/>
              </a:rPr>
              <a:t>q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in-R"/>
              </a:rPr>
              <a:t>)(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th-I"/>
              </a:rPr>
              <a:t>P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th-I"/>
              </a:rPr>
              <a:t>D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th-I"/>
              </a:rPr>
              <a:t>Q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MJXc-TeX-main-R"/>
              </a:rPr>
              <a:t>)</a:t>
            </a:r>
            <a:r>
              <a:rPr lang="it-IT" b="0" i="0" dirty="0">
                <a:solidFill>
                  <a:srgbClr val="333333"/>
                </a:solidFill>
                <a:effectLst/>
                <a:latin typeface="MJXc-TeX-math-I"/>
              </a:rPr>
              <a:t>m</a:t>
            </a:r>
          </a:p>
          <a:p>
            <a:r>
              <a:rPr lang="pt-BR" sz="2000" b="0" i="0" dirty="0">
                <a:solidFill>
                  <a:srgbClr val="333333"/>
                </a:solidFill>
                <a:effectLst/>
                <a:latin typeface="Helvetica Neue"/>
              </a:rPr>
              <a:t>Onde o primeiro parênteses se refere à parte não-sazonal do modelo e o segundo à parte sazonal. </a:t>
            </a:r>
            <a:r>
              <a:rPr lang="pt-BR" sz="2000" b="0" i="1" dirty="0">
                <a:solidFill>
                  <a:srgbClr val="333333"/>
                </a:solidFill>
                <a:effectLst/>
                <a:latin typeface="Helvetica Neue"/>
              </a:rPr>
              <a:t>m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Helvetica Neue"/>
              </a:rPr>
              <a:t> corresponde ao número de períodos sazonais.</a:t>
            </a:r>
            <a:endParaRPr lang="pt-BR" sz="2000" b="0" i="0" dirty="0">
              <a:solidFill>
                <a:srgbClr val="3333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184332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11264</TotalTime>
  <Words>241</Words>
  <Application>Microsoft Office PowerPoint</Application>
  <PresentationFormat>Apresentação na tela (4:3)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Arial</vt:lpstr>
      <vt:lpstr>Helvetica Neue</vt:lpstr>
      <vt:lpstr>MJXc-TeX-main-R</vt:lpstr>
      <vt:lpstr>MJXc-TeX-math-I</vt:lpstr>
      <vt:lpstr>Times New Roman</vt:lpstr>
      <vt:lpstr>Verdana</vt:lpstr>
      <vt:lpstr>Personalizar design</vt:lpstr>
      <vt:lpstr>Técnicas Estatísticas de Predição Sistemas de Informação  Aula 28  Séries Temporais: Modelos ARIMA</vt:lpstr>
      <vt:lpstr>Apresentação do PowerPoint</vt:lpstr>
      <vt:lpstr>Apresentação do PowerPoint</vt:lpstr>
      <vt:lpstr>Apresentação do PowerPoint</vt:lpstr>
    </vt:vector>
  </TitlesOfParts>
  <Company>CERTI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AULA_ACK</dc:title>
  <dc:creator>Andrea</dc:creator>
  <cp:lastModifiedBy>Adriano Borgatto</cp:lastModifiedBy>
  <cp:revision>1015</cp:revision>
  <dcterms:created xsi:type="dcterms:W3CDTF">2005-11-03T13:11:02Z</dcterms:created>
  <dcterms:modified xsi:type="dcterms:W3CDTF">2025-11-12T19:39:18Z</dcterms:modified>
</cp:coreProperties>
</file>